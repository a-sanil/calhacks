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this is a live wildfire scenario. The whole pitch is about reaction time — re-solving the optimal SAR route the moment the map mutates. Keep this slide up for ~15 seconds while you set the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core tension: routing is normally a one-time plan, but disasters make it a continuous decision. Set up that the rest of the deck is how we close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product in something the audience already trusts (TSP), then show the twist: continuous re-solving. The right panel shows a fire front forcing a reroute around a blocked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business-friendly slide — if someone only remembers one slide, make it this one. Sense / Decide / Re-route maps directly to the three architecture layers coming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Each of the next three slides drills into one layer. Stress the loop: it's not a pipeline that runs once, it's a cycle that never stops while the incident is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 is the unsung hero: pre-caching the base graph is what makes sub-millisecond lookups possible, so the agent never waits on I/O to formulate a problem. GraphRAG is what gives spatial, non-Euclidean awareness that flat RAG can't.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engineering insight and the part technical judges love: decoupling the probabilistic LLM from the deterministic solver via a strict schema. The agent reasons; OR-Tools optimizes. An infinite (x:1000) modifier on edge [3,5] is the active fire front being walled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'fastest path' becomes concrete. The objective is a weighted trade-off: collect the most priority while minimizing real travel cost under capacity and time-window constraints. The &lt;50ms figure is illustrative — adjust to your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panels left to right: intelligence in (feed), the world model (map), the reasoning + outcomes (telemetry). The right panel exposing the agent's thought process is what sells trust to a non-technical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script. Practice the injection so the snap-and-reroute lands cleanly — that single moment is the most persuasive thing in the entire pitch. Don't show static paths; show the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Tailor this live to whoever is judging. NOTE: 'TokenCompany' is a placeholder framing around LLM token throughput/cost — replace with the real company's value prop once confirmed. If Sai/Simular is in the room, lean into the computer-use-agent-as-operator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scope: the disaster demo is the wedge, but the agent-formulates/solver-optimizes pattern generalizes to any dynamic routing or NP-hard problem. End with the one-line value prop and your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6296" y="1636776"/>
            <a:ext cx="1188720" cy="82296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2459736"/>
            <a:ext cx="-731520" cy="118872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83496" y="3648456"/>
            <a:ext cx="-822960" cy="118872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15016" y="2459736"/>
            <a:ext cx="548640" cy="182880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63656" y="4288536"/>
            <a:ext cx="274320" cy="-246888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6296" y="1636776"/>
            <a:ext cx="2011680" cy="182880"/>
          </a:xfrm>
          <a:prstGeom prst="line">
            <a:avLst/>
          </a:prstGeom>
          <a:noFill/>
          <a:ln w="15875">
            <a:solidFill>
              <a:srgbClr val="3040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0536" y="4837176"/>
            <a:ext cx="822960" cy="-1188720"/>
          </a:xfrm>
          <a:prstGeom prst="line">
            <a:avLst/>
          </a:prstGeom>
          <a:noFill/>
          <a:ln w="31750">
            <a:solidFill>
              <a:srgbClr val="FF6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83496" y="3648456"/>
            <a:ext cx="731520" cy="-1188720"/>
          </a:xfrm>
          <a:prstGeom prst="line">
            <a:avLst/>
          </a:prstGeom>
          <a:noFill/>
          <a:ln w="31750">
            <a:solidFill>
              <a:srgbClr val="FF6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55448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377440"/>
            <a:ext cx="164592" cy="16459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3566160"/>
            <a:ext cx="164592" cy="16459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420624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4754880"/>
            <a:ext cx="164592" cy="16459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5680" y="17373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3017520"/>
            <a:ext cx="1371600" cy="1188720"/>
          </a:xfrm>
          <a:prstGeom prst="ellipse">
            <a:avLst/>
          </a:prstGeom>
          <a:solidFill>
            <a:srgbClr val="FF6A3D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·  ESCALATING WILDFIRE  ·  2026-06-20T12:04:00Z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" y="20574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Route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640080" y="33101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agentic optimization for disaster logistics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map changes every second, the route has to keep up. Aegis re-solves the fastest safe path for search-and-rescue fleets the instant the disaster shifts.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  →  Decide  →  Re-route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Wildfires don't wait for the dispatcher.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routing assumes a fixed map. In an active disaster that assumption is gone within minutes — roads close, fire fronts jump, and which victim to reach first keeps changing.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3008376"/>
            <a:ext cx="713232" cy="713232"/>
          </a:xfrm>
          <a:prstGeom prst="ellipse">
            <a:avLst/>
          </a:prstGeom>
          <a:solidFill>
            <a:srgbClr val="FF6A3D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93" y="320808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86791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decays in real time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32688" y="4636008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drops, a road closes, a fire front advances. Every event invalidates the route a planner just computed.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9704" y="269748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3008376"/>
            <a:ext cx="713232" cy="713232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017" y="320808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86791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explodes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782312" y="4636008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vehicles, capacities, priorities and time windows make this NP-hard — far beyond gut-feel or a spreadsheet.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39328" y="269748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31936" y="3008376"/>
            <a:ext cx="713232" cy="713232"/>
          </a:xfrm>
          <a:prstGeom prst="ellipse">
            <a:avLst/>
          </a:prstGeom>
          <a:solidFill>
            <a:srgbClr val="FFB23E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641" y="320808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31936" y="386791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are on a clock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631936" y="4636008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of delay cost lives. Re-planning by hand simply can't keep pace with a moving emergency.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isn't a plan you make once. It's a decision you have to re-make continuously.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Traveling Salesman Problem — that refuses to hold still.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TSP / CVRP: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single fastest route that visits every target. It's the most studied optimization problem there is, and deterministic solvers crack it in milliseconds.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12080" cy="2834640"/>
          </a:xfrm>
          <a:prstGeom prst="roundRect">
            <a:avLst>
              <a:gd name="adj" fmla="val 2903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98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TEXTBOOK TSP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once. The map never changes.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44752" y="4279392"/>
            <a:ext cx="1005840" cy="-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3730752"/>
            <a:ext cx="1371600" cy="914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3822192"/>
            <a:ext cx="1188720" cy="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4370832"/>
            <a:ext cx="-731520" cy="7315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5102352"/>
            <a:ext cx="-1463040" cy="-914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6352" y="5010912"/>
            <a:ext cx="-1371600" cy="-7315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2062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6576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9040" y="3749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429768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493776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50292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352" y="2697480"/>
            <a:ext cx="5212080" cy="2834640"/>
          </a:xfrm>
          <a:prstGeom prst="roundRect">
            <a:avLst>
              <a:gd name="adj" fmla="val 2903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2898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— DYNAMIC TSP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 continuously as the world mutates.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51392" y="3611880"/>
            <a:ext cx="1097280" cy="914400"/>
          </a:xfrm>
          <a:prstGeom prst="ellipse">
            <a:avLst/>
          </a:prstGeom>
          <a:solidFill>
            <a:srgbClr val="FF6A3D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50024" y="4279392"/>
            <a:ext cx="1005840" cy="-54864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55864" y="3730752"/>
            <a:ext cx="365760" cy="128016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1624" y="5010912"/>
            <a:ext cx="1463040" cy="9144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84664" y="5102352"/>
            <a:ext cx="731520" cy="-73152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16184" y="4370832"/>
            <a:ext cx="-3566160" cy="-9144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76872" y="42062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7982712" y="36576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Shape 29"/>
          <p:cNvSpPr/>
          <p:nvPr/>
        </p:nvSpPr>
        <p:spPr>
          <a:xfrm>
            <a:off x="9354312" y="3749040"/>
            <a:ext cx="146304" cy="146304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43032" y="429768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3" name="Shape 31"/>
          <p:cNvSpPr/>
          <p:nvPr/>
        </p:nvSpPr>
        <p:spPr>
          <a:xfrm>
            <a:off x="8348472" y="49377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Shape 32"/>
          <p:cNvSpPr/>
          <p:nvPr/>
        </p:nvSpPr>
        <p:spPr>
          <a:xfrm>
            <a:off x="9811512" y="5029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keeps the proven math — and wraps it in an agent loop that re-formulates and re-solves the problem every time new intelligence arrives.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SENTENCE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turns disaster chaos into the </a:t>
            </a:r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safe route</a:t>
            </a:r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recomputes it the instant the world changes.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392424" cy="3154680"/>
          </a:xfrm>
          <a:prstGeom prst="roundRect">
            <a:avLst>
              <a:gd name="adj" fmla="val 260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3054096"/>
            <a:ext cx="749808" cy="749808"/>
          </a:xfrm>
          <a:prstGeom prst="ellipse">
            <a:avLst/>
          </a:prstGeom>
          <a:solidFill>
            <a:srgbClr val="FFB23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634" y="3264042"/>
            <a:ext cx="329916" cy="329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3163824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32688" y="40690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live fire, weather, road and field intelligence — structured and unstructured — into one situational picture.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417423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89704" y="2743200"/>
            <a:ext cx="3392424" cy="3154680"/>
          </a:xfrm>
          <a:prstGeom prst="roundRect">
            <a:avLst>
              <a:gd name="adj" fmla="val 260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82312" y="3054096"/>
            <a:ext cx="749808" cy="74980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258" y="3264042"/>
            <a:ext cx="329916" cy="3299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0136" y="3163824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782312" y="40690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translates that picture into a precise math problem and a deterministic solver finds the optimal multi-vehicle routes.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417423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339328" y="2743200"/>
            <a:ext cx="3392424" cy="3154680"/>
          </a:xfrm>
          <a:prstGeom prst="roundRect">
            <a:avLst>
              <a:gd name="adj" fmla="val 260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631936" y="3054096"/>
            <a:ext cx="749808" cy="749808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882" y="3264042"/>
            <a:ext cx="329916" cy="3299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09760" y="3163824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Re-route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8631936" y="40690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new orders to the fleet in real time, then re-solve automatically the moment conditions shift.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one continuous loop.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12848"/>
            <a:ext cx="731520" cy="731520"/>
          </a:xfrm>
          <a:prstGeom prst="ellipse">
            <a:avLst/>
          </a:prstGeom>
          <a:solidFill>
            <a:srgbClr val="FFB23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514" y="241767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2224" y="22311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Sense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92224" y="259689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+ GraphRAG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50976" y="333756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fire, weather &amp; road feeds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Redis-cached base road graph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situational awareness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57987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9704" y="1920240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82312" y="2212848"/>
            <a:ext cx="731520" cy="73152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38" y="2417674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41848" y="22311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Decide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641848" y="259689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Agent-to-solver pipeline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800600" y="333756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formulates the cost matrix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contract to the solver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solves TSP / CVRP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57987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339328" y="1920240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631936" y="2212848"/>
            <a:ext cx="731520" cy="731520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2" y="2417674"/>
            <a:ext cx="321869" cy="3218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91472" y="22311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Act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491472" y="259689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dispatch dashboard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8650224" y="333756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map of fleet &amp; hazards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pushed to vehicles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re-solve on every event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 Every new event re-enters the loop — sense, decide, re-route — in milliseconds.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· SENSE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awareness, served from a Redis cache.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DATA 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42032"/>
            <a:ext cx="566928" cy="566928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233" y="2706441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&amp; weather APIs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/ CalFire perimeters, wind &amp; humidity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511296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" y="3767328"/>
            <a:ext cx="566928" cy="566928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33" y="3931737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694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telemetry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transcripts, X emergency posts, Caltrans closures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736592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992624"/>
            <a:ext cx="566928" cy="566928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33" y="5157033"/>
            <a:ext cx="238110" cy="238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road network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00200" y="5285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topology &amp; travel times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749040"/>
            <a:ext cx="365760" cy="3657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22392" y="2240280"/>
            <a:ext cx="3063240" cy="3383280"/>
          </a:xfrm>
          <a:prstGeom prst="roundRect">
            <a:avLst>
              <a:gd name="adj" fmla="val 2687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42532" y="2551176"/>
            <a:ext cx="822960" cy="822960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61" y="2781605"/>
            <a:ext cx="362102" cy="3621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05272" y="34655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STATE CACHE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678424" y="3867912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road &amp; topographical graph pre-loaded for sub-millisecond edge-weight and node lookups — before any hazard modifiers are applied.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605272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‹ 1 ms  baseline lookups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749040"/>
            <a:ext cx="365760" cy="3657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198864" y="2240280"/>
            <a:ext cx="2743200" cy="3383280"/>
          </a:xfrm>
          <a:prstGeom prst="roundRect">
            <a:avLst>
              <a:gd name="adj" fmla="val 3000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10158984" y="2551176"/>
            <a:ext cx="822960" cy="82296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413" y="2781605"/>
            <a:ext cx="362102" cy="3621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381744" y="34655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9436608" y="3867912"/>
            <a:ext cx="2267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as a knowledge graph: hospitals, evacuees, SAR teams and fire fronts as nodes; passable roads as edges. New reports rewrite edges live.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"Bridge on Hwy 9 out" stops being a tweet and becomes an impassable edge in the graph — automatically, in seconds.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· DECIDE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only job: translate chaos into math.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can't reliably solve NP-hard routing. So the agent never tries. It converts the messy real world into a strict JSON contract that a deterministic solver optimizes instantly.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709160" cy="1060704"/>
          </a:xfrm>
          <a:prstGeom prst="roundRect">
            <a:avLst>
              <a:gd name="adj" fmla="val 775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529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945" y="3017337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7523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Formulate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72768" y="3081528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the GraphRAG sub-graph, applies severe penalties to hazardous edges, and scores each target by evacuee density and fire proximity.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767328"/>
            <a:ext cx="4709160" cy="1060704"/>
          </a:xfrm>
          <a:prstGeom prst="roundRect">
            <a:avLst>
              <a:gd name="adj" fmla="val 775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9536" y="4014216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45" y="4178625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39136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Contract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72768" y="4242816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one strictly-typed JSON payload — vehicles, target nodes, and dynamic edge modifiers. This is the only handoff.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928616"/>
            <a:ext cx="4709160" cy="1060704"/>
          </a:xfrm>
          <a:prstGeom prst="roundRect">
            <a:avLst>
              <a:gd name="adj" fmla="val 775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5175504"/>
            <a:ext cx="566928" cy="566928"/>
          </a:xfrm>
          <a:prstGeom prst="ellipse">
            <a:avLst/>
          </a:prstGeom>
          <a:solidFill>
            <a:srgbClr val="FFB23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45" y="5339913"/>
            <a:ext cx="238110" cy="238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50749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Solve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72768" y="5404104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microservice multiplies the Redis matrix by the modifiers and OR-Tools returns exact, ordered route arrays.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806440" y="2606040"/>
            <a:ext cx="5650992" cy="3483864"/>
          </a:xfrm>
          <a:prstGeom prst="roundRect">
            <a:avLst>
              <a:gd name="adj" fmla="val 2362"/>
            </a:avLst>
          </a:prstGeom>
          <a:solidFill>
            <a:srgbClr val="10171E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080760" y="280720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JSON CONTRACT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080760" y="3154680"/>
            <a:ext cx="514807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"2026-06-20T12:04:00Z",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"disaster_state": "escalating_wildfire",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"vehicles": [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{"id":"V1","type":"air_evac","capacity":4},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{"id":"V2","type":"ground","capacity":12}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"target_nodes": [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{"id":5,"priority":9.5,"demand":3,"tw":[0,45]},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{"id":8,"priority":4.0,"demand":10,"tw":[0,120]}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"dynamic_edge_modifiers": [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{"edge":[3,5],"x":1000,"reason":"fire_front"},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{"edge":[1,8],"x":1.5,"reason":"low_visibility"}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path, formally optimal — in milliseconds.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solves a Multi-Vehicle Capacitated Routing Problem (CVRP) on every tick: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647188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49631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priority points collected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82549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highest-need targets first — weighted by evacuee density and fire proximity.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3817620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66674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total modified travel cost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98448" y="3995928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Redis distance matrix × live edge modifiers = true cost of every road right now.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855464"/>
            <a:ext cx="457200" cy="457200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498805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8371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hard constraints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98448" y="516636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capacity, type (air vs ground) and per-target time windows are never violated.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46520" y="1828800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720840" y="20482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PER-TICK COMPUTATION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90588" y="2514600"/>
            <a:ext cx="603504" cy="603504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04" y="2689616"/>
            <a:ext cx="253472" cy="253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717536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8133588" y="2514600"/>
            <a:ext cx="603504" cy="603504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604" y="2689616"/>
            <a:ext cx="253472" cy="253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6384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live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860536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276588" y="2514600"/>
            <a:ext cx="603504" cy="603504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604" y="2689616"/>
            <a:ext cx="253472" cy="253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10003536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0419588" y="2514600"/>
            <a:ext cx="603504" cy="603504"/>
          </a:xfrm>
          <a:prstGeom prst="ellipse">
            <a:avLst/>
          </a:prstGeom>
          <a:solidFill>
            <a:srgbClr val="212F3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604" y="2689616"/>
            <a:ext cx="253472" cy="253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14984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446520" y="4343400"/>
            <a:ext cx="2377440" cy="1737360"/>
          </a:xfrm>
          <a:prstGeom prst="roundRect">
            <a:avLst>
              <a:gd name="adj" fmla="val 4737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6629400" y="45537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50 ms</a:t>
            </a:r>
            <a:endParaRPr lang="en-US" sz="3800" dirty="0"/>
          </a:p>
        </p:txBody>
      </p:sp>
      <p:sp>
        <p:nvSpPr>
          <p:cNvPr id="36" name="Text 27"/>
          <p:cNvSpPr/>
          <p:nvPr/>
        </p:nvSpPr>
        <p:spPr>
          <a:xfrm>
            <a:off x="6629400" y="53218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re-solve a fully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scenario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9189720" y="4343400"/>
            <a:ext cx="2377440" cy="1737360"/>
          </a:xfrm>
          <a:prstGeom prst="roundRect">
            <a:avLst>
              <a:gd name="adj" fmla="val 4737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9372600" y="45537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3800" dirty="0"/>
          </a:p>
        </p:txBody>
      </p:sp>
      <p:sp>
        <p:nvSpPr>
          <p:cNvPr id="39" name="Text 30"/>
          <p:cNvSpPr/>
          <p:nvPr/>
        </p:nvSpPr>
        <p:spPr>
          <a:xfrm>
            <a:off x="9372600" y="53218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routes — not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guesses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 that makes the algorithm legible.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161E27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9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FEED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6384" y="2286000"/>
            <a:ext cx="2313432" cy="713232"/>
          </a:xfrm>
          <a:prstGeom prst="roundRect">
            <a:avLst>
              <a:gd name="adj" fmla="val 6410"/>
            </a:avLst>
          </a:prstGeom>
          <a:solidFill>
            <a:srgbClr val="1C273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91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Hwy 9 bridge OUT — mudslide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" y="3108960"/>
            <a:ext cx="2313432" cy="713232"/>
          </a:xfrm>
          <a:prstGeom prst="roundRect">
            <a:avLst>
              <a:gd name="adj" fmla="val 6410"/>
            </a:avLst>
          </a:prstGeom>
          <a:solidFill>
            <a:srgbClr val="1C273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82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 front +400m NE, Sector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3931920"/>
            <a:ext cx="2313432" cy="713232"/>
          </a:xfrm>
          <a:prstGeom prst="roundRect">
            <a:avLst>
              <a:gd name="adj" fmla="val 6410"/>
            </a:avLst>
          </a:prstGeom>
          <a:solidFill>
            <a:srgbClr val="1C273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050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 evacuees stranded, node 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" y="4754880"/>
            <a:ext cx="2313432" cy="713232"/>
          </a:xfrm>
          <a:prstGeom prst="roundRect">
            <a:avLst>
              <a:gd name="adj" fmla="val 6410"/>
            </a:avLst>
          </a:prstGeom>
          <a:solidFill>
            <a:srgbClr val="1C273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28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Smoke: visibility low, edge 1-8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0A1117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19293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TACTICAL 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2697480"/>
            <a:ext cx="1737360" cy="1371600"/>
          </a:xfrm>
          <a:prstGeom prst="ellipse">
            <a:avLst/>
          </a:prstGeom>
          <a:solidFill>
            <a:srgbClr val="FF6A3D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2971800"/>
            <a:ext cx="1005840" cy="822960"/>
          </a:xfrm>
          <a:prstGeom prst="ellipse">
            <a:avLst/>
          </a:prstGeom>
          <a:solidFill>
            <a:srgbClr val="FF6A3D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25112" y="2953512"/>
            <a:ext cx="1371600" cy="27432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3227832"/>
            <a:ext cx="-640080" cy="82296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6632" y="4050792"/>
            <a:ext cx="-457200" cy="91440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965192"/>
            <a:ext cx="1645920" cy="-18288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4782312"/>
            <a:ext cx="1097280" cy="-27432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4782312"/>
            <a:ext cx="1097280" cy="-274320"/>
          </a:xfrm>
          <a:prstGeom prst="line">
            <a:avLst/>
          </a:prstGeom>
          <a:noFill/>
          <a:ln w="25400">
            <a:solidFill>
              <a:srgbClr val="FFB23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251960" y="2880360"/>
            <a:ext cx="182880" cy="1828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4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3977640"/>
            <a:ext cx="182880" cy="1828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4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709160"/>
            <a:ext cx="182880" cy="1828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4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3154680"/>
            <a:ext cx="182880" cy="1828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4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4434840"/>
            <a:ext cx="182880" cy="182880"/>
          </a:xfrm>
          <a:prstGeom prst="ellipse">
            <a:avLst/>
          </a:prstGeom>
          <a:solidFill>
            <a:srgbClr val="FF6A3D"/>
          </a:solidFill>
          <a:ln w="12700">
            <a:solidFill>
              <a:srgbClr val="0E14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4892040"/>
            <a:ext cx="182880" cy="1828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41B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3666744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630168" y="542239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chevrons = SAR assets · polygons = fire perimeter · dots = priority targets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961120" y="178308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161E27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44000" y="1929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&amp; FLEET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107424" y="2286000"/>
            <a:ext cx="2313432" cy="1234440"/>
          </a:xfrm>
          <a:prstGeom prst="roundRect">
            <a:avLst>
              <a:gd name="adj" fmla="val 3704"/>
            </a:avLst>
          </a:prstGeom>
          <a:solidFill>
            <a:srgbClr val="1C2731"/>
          </a:solidFill>
          <a:ln/>
        </p:spPr>
      </p:sp>
      <p:sp>
        <p:nvSpPr>
          <p:cNvPr id="35" name="Text 32"/>
          <p:cNvSpPr/>
          <p:nvPr/>
        </p:nvSpPr>
        <p:spPr>
          <a:xfrm>
            <a:off x="9235440" y="2386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THOUGHT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9235440" y="26243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Evaluating Route 4… edge 3→5 over thermal threshold → weight = +∞. Re-solving.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107424" y="3657600"/>
            <a:ext cx="2313432" cy="603504"/>
          </a:xfrm>
          <a:prstGeom prst="roundRect">
            <a:avLst>
              <a:gd name="adj" fmla="val 7576"/>
            </a:avLst>
          </a:prstGeom>
          <a:solidFill>
            <a:srgbClr val="1C2731"/>
          </a:solidFill>
          <a:ln/>
        </p:spPr>
      </p:sp>
      <p:sp>
        <p:nvSpPr>
          <p:cNvPr id="38" name="Text 35"/>
          <p:cNvSpPr/>
          <p:nvPr/>
        </p:nvSpPr>
        <p:spPr>
          <a:xfrm>
            <a:off x="923544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 service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42416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9107424" y="4370832"/>
            <a:ext cx="2313432" cy="603504"/>
          </a:xfrm>
          <a:prstGeom prst="roundRect">
            <a:avLst>
              <a:gd name="adj" fmla="val 7576"/>
            </a:avLst>
          </a:prstGeom>
          <a:solidFill>
            <a:srgbClr val="1C2731"/>
          </a:solidFill>
          <a:ln/>
        </p:spPr>
      </p:sp>
      <p:sp>
        <p:nvSpPr>
          <p:cNvPr id="41" name="Text 38"/>
          <p:cNvSpPr/>
          <p:nvPr/>
        </p:nvSpPr>
        <p:spPr>
          <a:xfrm>
            <a:off x="9235440" y="4462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reached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424160" y="4416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9107424" y="5084064"/>
            <a:ext cx="2313432" cy="603504"/>
          </a:xfrm>
          <a:prstGeom prst="roundRect">
            <a:avLst>
              <a:gd name="adj" fmla="val 7576"/>
            </a:avLst>
          </a:prstGeom>
          <a:solidFill>
            <a:srgbClr val="1C2731"/>
          </a:solidFill>
          <a:ln/>
        </p:spPr>
      </p:sp>
      <p:sp>
        <p:nvSpPr>
          <p:cNvPr id="44" name="Text 41"/>
          <p:cNvSpPr/>
          <p:nvPr/>
        </p:nvSpPr>
        <p:spPr>
          <a:xfrm>
            <a:off x="9235440" y="51755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lives saved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0424160" y="51297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React + Mapbox GL JS · WebGL vector rendering at high frame rate.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isn't the path. It's the reaction time.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continuous tick, the presenter injects a crisis — and the whole system visibly responds in real time: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67712" y="2724912"/>
            <a:ext cx="603504" cy="603504"/>
          </a:xfrm>
          <a:prstGeom prst="ellipse">
            <a:avLst/>
          </a:prstGeom>
          <a:solidFill>
            <a:srgbClr val="1220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2728" y="2899928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832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polygon expands across a route currently assigned to an asset.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00400" y="36347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11296" y="2468880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67328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5138928" y="2724912"/>
            <a:ext cx="603504" cy="603504"/>
          </a:xfrm>
          <a:prstGeom prst="ellipse">
            <a:avLst/>
          </a:prstGeom>
          <a:solidFill>
            <a:srgbClr val="12202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944" y="2899928"/>
            <a:ext cx="253472" cy="253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85616" y="33832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785616" y="3794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threatened route line instantly flashes yellow and breaks.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071616" y="36347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382512" y="2468880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212F3B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638544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8010144" y="2724912"/>
            <a:ext cx="603504" cy="603504"/>
          </a:xfrm>
          <a:prstGeom prst="ellipse">
            <a:avLst/>
          </a:prstGeom>
          <a:solidFill>
            <a:srgbClr val="1220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60" y="2899928"/>
            <a:ext cx="253472" cy="253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56832" y="33832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Re-formulate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656832" y="3794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flashes its updated JSON matrix — that edge is now +∞.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942832" y="36347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253728" y="2468880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509760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10881360" y="2724912"/>
            <a:ext cx="603504" cy="603504"/>
          </a:xfrm>
          <a:prstGeom prst="ellipse">
            <a:avLst/>
          </a:prstGeom>
          <a:solidFill>
            <a:srgbClr val="1220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376" y="2899928"/>
            <a:ext cx="253472" cy="253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28048" y="33832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Re-route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528048" y="3794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optimal path draws around the hazard; the chevron corrects heading.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in milliseconds. </a:t>
            </a:r>
            <a:pPr indent="0" marL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hitting a dynamically-generated blockage and instantly receiving a new multi-constraint route proves both the validity of the reasoning and the speed of the solver — at once.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BUILT ON YOUR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maps to one of your products.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03704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468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122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057400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REASONING AGENT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57400" y="28072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GraphRAG picture and writes the JSON contract — chaos in, strict math out. The judgment layer that no solver can replace.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82512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56832" y="2203704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688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99832" y="21122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799832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REAL-TIME STATE CACHE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99832" y="28072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base road graph in memory for sub-millisecond lookups, so the agent never blocks on I/O while re-solving under pressure.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977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06824"/>
            <a:ext cx="914400" cy="914400"/>
          </a:xfrm>
          <a:prstGeom prst="ellipse">
            <a:avLst/>
          </a:prstGeom>
          <a:solidFill>
            <a:srgbClr val="FFB2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5720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2153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· Sai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057400" y="4617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AUTONOMOUS OPERATOR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057400" y="4910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computer-use agent can drive the dispatch console and act across apps end-to-end — escalating, notifying, and executing with guardrails.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82512" y="3977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56832" y="4306824"/>
            <a:ext cx="914400" cy="91440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45720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99832" y="42153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TokenCompany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799832" y="4617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EFFICIENCY AT SCALE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99832" y="4910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re-formulation means continuous inference. Cheaper, faster tokens make a real-time agent loop economically viable.  ⚠ confirm role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023360"/>
            <a:ext cx="2377440" cy="2011680"/>
          </a:xfrm>
          <a:prstGeom prst="ellipse">
            <a:avLst/>
          </a:prstGeom>
          <a:solidFill>
            <a:srgbClr val="FF6A3D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routes, </a:t>
            </a:r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lives</a:t>
            </a:r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a routing brain that works far beyond fire.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898648"/>
            <a:ext cx="676656" cy="676656"/>
          </a:xfrm>
          <a:prstGeom prst="ellipse">
            <a:avLst/>
          </a:prstGeom>
          <a:solidFill>
            <a:srgbClr val="FF6A3D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152" y="3088112"/>
            <a:ext cx="297729" cy="297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703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123944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Wildfire, flood and earthquake SAR where the map mutates by the minute.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9704" y="260604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898648"/>
            <a:ext cx="676656" cy="67665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776" y="3088112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703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emergency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82312" y="4123944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dynamic vehicle-routing problem: last-mile delivery, field service, logistics under disruption.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39328" y="260604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1C2731"/>
          </a:solidFill>
          <a:ln w="9525">
            <a:solidFill>
              <a:srgbClr val="3040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31936" y="2898648"/>
            <a:ext cx="676656" cy="676656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400" y="3088112"/>
            <a:ext cx="297729" cy="2977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31936" y="3703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pattern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631936" y="4123944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Agent-formulates → solver-optimizes is a template for any NP-hard decision under live constraints.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Route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0080" y="5870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5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 → Decide → Re-route. The fastest safe path, recomputed in real time.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ROUTE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Route</dc:title>
  <dc:subject>PptxGenJS Presentation</dc:subject>
  <dc:creator>Aegis Route</dc:creator>
  <cp:lastModifiedBy>Aegis Route</cp:lastModifiedBy>
  <cp:revision>1</cp:revision>
  <dcterms:created xsi:type="dcterms:W3CDTF">2026-06-20T19:21:34Z</dcterms:created>
  <dcterms:modified xsi:type="dcterms:W3CDTF">2026-06-20T19:21:34Z</dcterms:modified>
</cp:coreProperties>
</file>